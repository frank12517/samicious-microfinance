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63040"/>
            <a:ext cx="9144000" cy="219456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0"/>
            <a:ext cx="91440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593592"/>
            <a:ext cx="91440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SAMICIOUS MICROFINANCE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MANAGEMENT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GUIDE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v18.0  |  10-Agent System  |  Formula-Only  |  Zero VBA  |  GHS Currency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&amp; Developed by Frank Abban — IT Consultant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0241911273  |  📞 0207530771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SAMICIOUS MICROFINANCE  •  CONFIDENTIAL STAFF DOCUMENT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training structure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8778240" cy="228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005840"/>
            <a:ext cx="1645920" cy="3108960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05840"/>
            <a:ext cx="16459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1078992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6032" y="1463040"/>
            <a:ext cx="14996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Developer Section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Acknowledgement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System Architecture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20240" y="1005840"/>
            <a:ext cx="1645920" cy="3108960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20240" y="1005840"/>
            <a:ext cx="16459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2" name="Text 10"/>
          <p:cNvSpPr/>
          <p:nvPr/>
        </p:nvSpPr>
        <p:spPr>
          <a:xfrm>
            <a:off x="1993392" y="1078992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93392" y="1463040"/>
            <a:ext cx="14996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Manager Dashboard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Reports &amp; Monitoring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0" y="1005840"/>
            <a:ext cx="1645920" cy="3108960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0" y="1005840"/>
            <a:ext cx="16459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6" name="Text 14"/>
          <p:cNvSpPr/>
          <p:nvPr/>
        </p:nvSpPr>
        <p:spPr>
          <a:xfrm>
            <a:off x="3730752" y="1078992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730752" y="1463040"/>
            <a:ext cx="14996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New Account Registration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Customer Database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DB — Savings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DB — Withdrawals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DB — Loans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Loan Top-Up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94960" y="1005840"/>
            <a:ext cx="1645920" cy="3108960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94960" y="1005840"/>
            <a:ext cx="16459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0" name="Text 18"/>
          <p:cNvSpPr/>
          <p:nvPr/>
        </p:nvSpPr>
        <p:spPr>
          <a:xfrm>
            <a:off x="5468112" y="1078992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TRAINING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68112" y="1463040"/>
            <a:ext cx="14996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12–21. Agent 01 → Agent 10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Savings Process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Withdrawals Process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Loan Requests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DO NOTs &amp; Errors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132320" y="1005840"/>
            <a:ext cx="1645920" cy="3108960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32320" y="1005840"/>
            <a:ext cx="16459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4" name="Text 22"/>
          <p:cNvSpPr/>
          <p:nvPr/>
        </p:nvSpPr>
        <p:spPr>
          <a:xfrm>
            <a:off x="7205472" y="1078992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205472" y="1463040"/>
            <a:ext cx="14996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Error Corrections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 System Configuration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 DB — Agents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 Common Mistakes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82880" y="4389120"/>
            <a:ext cx="8778240" cy="365760"/>
          </a:xfrm>
          <a:prstGeom prst="rect">
            <a:avLst/>
          </a:prstGeom>
          <a:solidFill>
            <a:srgbClr val="172233"/>
          </a:solidFill>
          <a:ln/>
        </p:spPr>
        <p:txBody>
          <a:bodyPr wrap="square" lIns="1270" tIns="0" rIns="127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YELLOW = User enters data  |  🔵 BLUE = Auto-computed — NEVER edit blue cells  |  🔴 RED = Error or wrong code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DEVELOPER INFORMATION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design, purpose &amp; architecture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8778240" cy="228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005840"/>
            <a:ext cx="4114800" cy="1920240"/>
          </a:xfrm>
          <a:prstGeom prst="rect">
            <a:avLst/>
          </a:prstGeom>
          <a:solidFill>
            <a:srgbClr val="17223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05840"/>
            <a:ext cx="41148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1060704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DEVELOPER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389888"/>
            <a:ext cx="389534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Abban — IT Consultant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0241911273  |  📞 0207530771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Commissioned by Mr. Addu Gyamfi, CEO, SAMICIOUS Microfinance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Mentored by Dr. Gabriel Annan, UCC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80560" y="1005840"/>
            <a:ext cx="4480560" cy="1920240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005840"/>
            <a:ext cx="448056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2" name="Text 10"/>
          <p:cNvSpPr/>
          <p:nvPr/>
        </p:nvSpPr>
        <p:spPr>
          <a:xfrm>
            <a:off x="4590288" y="1060704"/>
            <a:ext cx="4261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PURPOSE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90288" y="1389888"/>
            <a:ext cx="426110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microfinance management for 10 field agents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savings, withdrawals, loans &amp; top-ups per customer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aggregation across all agents into central databases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oversight with live performance dashboard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3063240"/>
            <a:ext cx="8778240" cy="1737360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3063240"/>
            <a:ext cx="8778240" cy="36576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" y="3118104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44 SHEETS TOTAL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" y="3447288"/>
            <a:ext cx="85587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DASHBOARDS: Home Dashboard, Manager Command Center, REPORTS (all read-only, auto-refresh)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DATA ENTRY: NEW ACCOUNT (registration only) | Agent01–10 Savings, Withdrawals, Loans (yellow cells only)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DATABASES: DB_Customers, DB_Savings, DB_Withdrawals, DB_Loans, LOAN TOPUP, DB_Agents (all READ-ONLY)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CONFIG: System_Config (security codes, rates, limits) | ERROR_CORRECTIONS (audit trail)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SECURITY: Each agent has a unique 4-digit code. Wrong code = 🔒 WRONG CODE. Cross-agent usage BLOCKED.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ACKNOWLEDGEMENT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ownership &amp; biblical foundation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8778240" cy="228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05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can do all things through Christ who strengthens me."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Philippians 4:13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2011680"/>
            <a:ext cx="2834640" cy="1188720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20848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2377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glory to the Almighty God for grace, strength and wisdom throughout this project.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82112" y="2011680"/>
            <a:ext cx="2834640" cy="1188720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73552" y="20848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GABRIEL ANNAN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73552" y="2377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Lecturer, UCC — Mentorship and invaluable guidance in system development.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81344" y="2011680"/>
            <a:ext cx="2834640" cy="1188720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72784" y="20848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 EBENEZER DADZIE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72784" y="2377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Spiritual guidance, encouragement and prayers.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" y="3474720"/>
            <a:ext cx="2834640" cy="1188720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35478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ADDU GYAMFI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3840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CEO, SAMICIOUS Microfinance — Trust and confidence in commissioning this system.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82112" y="3474720"/>
            <a:ext cx="2834640" cy="1188720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73552" y="35478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73552" y="3840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support, sacrifices and unwavering love throughout the development journey.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MANAGER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oversight, agent monitoring &amp; KPI tracking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8778240" cy="228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005840"/>
            <a:ext cx="2834640" cy="960120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05840"/>
            <a:ext cx="283464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078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SAVINGS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13898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agent savings. Auto-computed.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82112" y="1005840"/>
            <a:ext cx="2834640" cy="960120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1005840"/>
            <a:ext cx="2834640" cy="36576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12" name="Text 10"/>
          <p:cNvSpPr/>
          <p:nvPr/>
        </p:nvSpPr>
        <p:spPr>
          <a:xfrm>
            <a:off x="3273552" y="1078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WITHDRAWALS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73552" y="13898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combined. Real-time.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81344" y="1005840"/>
            <a:ext cx="2834640" cy="960120"/>
          </a:xfrm>
          <a:prstGeom prst="rect">
            <a:avLst/>
          </a:prstGeom>
          <a:solidFill>
            <a:srgbClr val="172233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1344" y="1005840"/>
            <a:ext cx="2834640" cy="36576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6" name="Text 14"/>
          <p:cNvSpPr/>
          <p:nvPr/>
        </p:nvSpPr>
        <p:spPr>
          <a:xfrm>
            <a:off x="6272784" y="1078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FLOW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72784" y="13898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minus Withdrawals.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2880" y="2148840"/>
            <a:ext cx="2834640" cy="960120"/>
          </a:xfrm>
          <a:prstGeom prst="rect">
            <a:avLst/>
          </a:prstGeom>
          <a:solidFill>
            <a:srgbClr val="17223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2148840"/>
            <a:ext cx="283464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221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25328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registered (up to 2,000).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182112" y="2148840"/>
            <a:ext cx="2834640" cy="960120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82112" y="2148840"/>
            <a:ext cx="2834640" cy="36576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4" name="Text 22"/>
          <p:cNvSpPr/>
          <p:nvPr/>
        </p:nvSpPr>
        <p:spPr>
          <a:xfrm>
            <a:off x="3273552" y="2221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PORTFOLIO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73552" y="25328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loan total across 10 agents.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81344" y="2148840"/>
            <a:ext cx="2834640" cy="960120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81344" y="2148840"/>
            <a:ext cx="2834640" cy="36576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8" name="Text 26"/>
          <p:cNvSpPr/>
          <p:nvPr/>
        </p:nvSpPr>
        <p:spPr>
          <a:xfrm>
            <a:off x="6272784" y="2221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TOP-UPS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72784" y="25328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active loan top-ups.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82880" y="3246120"/>
            <a:ext cx="8778240" cy="1554480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3246120"/>
            <a:ext cx="877824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2" name="Text 30"/>
          <p:cNvSpPr/>
          <p:nvPr/>
        </p:nvSpPr>
        <p:spPr>
          <a:xfrm>
            <a:off x="292608" y="3300984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AGENT PERFORMANCE TRACKER (10 AGENTS)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92608" y="3630168"/>
            <a:ext cx="85587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Agent | Today Savings | Today Withdrawals | Net Today | Txns Today | MTD Savings | Active Customers | Target (GHS 5,000) | % Target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columns are BLUE (auto-computed) — Manager NEVER enters data here. Data flows automatically from agent sheets.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Target shows each agent's month-to-date savings versus the GHS 5,000 monthly target.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Correction Monitor shows: Pending Verifications | Verified Corrections | Invalid Code Attempts | Net Adjustments (GHS)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NEW ACCOUNT REGISTRATION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customer registration process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8778240" cy="2286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005840"/>
            <a:ext cx="53035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005840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00584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5216" y="100584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the NEW ACCOUNT sheet (tab at bottom of workbook)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" y="1499616"/>
            <a:ext cx="53035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1499616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" y="149961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5216" y="1499616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first empty row in the table (look for a blank 🟡 yellow row)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2880" y="1993392"/>
            <a:ext cx="53035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1993392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199339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" y="19933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Customer Name in Column B (yellow cell)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2487168"/>
            <a:ext cx="53035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" y="2487168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248716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5216" y="248716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Date of Birth in Column C (yellow cell)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82880" y="2980944"/>
            <a:ext cx="53035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2980944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298094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5216" y="298094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Phone Number in Column D (yellow cell)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2880" y="3474720"/>
            <a:ext cx="53035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3474720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347472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85216" y="347472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Location / Hometown in Column E (yellow cell)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82880" y="3968496"/>
            <a:ext cx="53035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3968496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2" name="Text 30"/>
          <p:cNvSpPr/>
          <p:nvPr/>
        </p:nvSpPr>
        <p:spPr>
          <a:xfrm>
            <a:off x="182880" y="396849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5216" y="3968496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Occupation in Column F (yellow cell)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82880" y="4462272"/>
            <a:ext cx="53035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2880" y="4462272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6" name="Text 34"/>
          <p:cNvSpPr/>
          <p:nvPr/>
        </p:nvSpPr>
        <p:spPr>
          <a:xfrm>
            <a:off x="182880" y="446227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85216" y="446227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Assigned Agent from the dropdown in Column G (yellow cell)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82880" y="4956048"/>
            <a:ext cx="53035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2880" y="4956048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0" name="Text 38"/>
          <p:cNvSpPr/>
          <p:nvPr/>
        </p:nvSpPr>
        <p:spPr>
          <a:xfrm>
            <a:off x="182880" y="49560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85216" y="495604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Opening Balance (GHS) in Column H — MINIMUM GHS 10.00 required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82880" y="5449824"/>
            <a:ext cx="53035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2880" y="5449824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4" name="Text 42"/>
          <p:cNvSpPr/>
          <p:nvPr/>
        </p:nvSpPr>
        <p:spPr>
          <a:xfrm>
            <a:off x="182880" y="54498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85216" y="544982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Number (Col A) and Date Registered (Col I) fill AUTOMATICALLY — do NOT type there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669280" y="1005840"/>
            <a:ext cx="3291840" cy="1828800"/>
          </a:xfrm>
          <a:prstGeom prst="rect">
            <a:avLst/>
          </a:prstGeom>
          <a:solidFill>
            <a:srgbClr val="17223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669280" y="1005840"/>
            <a:ext cx="329184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8" name="Text 46"/>
          <p:cNvSpPr/>
          <p:nvPr/>
        </p:nvSpPr>
        <p:spPr>
          <a:xfrm>
            <a:off x="5779008" y="1060704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FIELDS 🔵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779008" y="1389888"/>
            <a:ext cx="307238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Number — system auto-assigns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Registered — auto-fills today's date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— starts as 'Pending' automatically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syncs INSTANTLY — no save button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669280" y="3017520"/>
            <a:ext cx="32918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760720" y="3017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type in blue cells. Account No and Date auto-fill.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669280" y="3657600"/>
            <a:ext cx="32918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760720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Opening Balance BELOW GHS 10 triggers ⚠️ Below Min Balance flag.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669280" y="4297680"/>
            <a:ext cx="3291840" cy="731520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669280" y="4297680"/>
            <a:ext cx="3291840" cy="36576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6" name="Text 54"/>
          <p:cNvSpPr/>
          <p:nvPr/>
        </p:nvSpPr>
        <p:spPr>
          <a:xfrm>
            <a:off x="5779008" y="4352544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779008" y="468172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10 minimum opening balance enforced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copy-paste between rows — enter fresh each row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CUSTOMER DATABASE (DB_Customers)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read-only source of truth for all customer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8778240" cy="2286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005840"/>
            <a:ext cx="2103120" cy="3474720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05840"/>
            <a:ext cx="21031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078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 A–J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AUTO-MIRRORED FROM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ACCOUNT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1828800"/>
            <a:ext cx="1920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No, Name, DOB, Phone, Location, Occupation, Agent, Opening Balance, Date Registered, Status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23160" y="1005840"/>
            <a:ext cx="2103120" cy="3474720"/>
          </a:xfrm>
          <a:prstGeom prst="rect">
            <a:avLst/>
          </a:prstGeom>
          <a:solidFill>
            <a:srgbClr val="17223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005840"/>
            <a:ext cx="210312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1078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 K–L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14600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14600" y="1828800"/>
            <a:ext cx="1920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Savings (GHS) and Total Withdrawals (GHS) — computed from all agent transaction sheets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2103120" cy="3474720"/>
          </a:xfrm>
          <a:prstGeom prst="rect">
            <a:avLst/>
          </a:prstGeom>
          <a:solidFill>
            <a:srgbClr val="172233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05840"/>
            <a:ext cx="2103120" cy="36576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078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 M–N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BALANCE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1828800"/>
            <a:ext cx="1920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Balance = Opening + Savings − Withdrawals. Withdrawable Balance = Current Balance − GHS 10 reserve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903720" y="1005840"/>
            <a:ext cx="2103120" cy="3474720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03720" y="1005840"/>
            <a:ext cx="2103120" cy="36576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1078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 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95160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995160" y="1828800"/>
            <a:ext cx="1920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'✅ Clean' = no corrections. If errors logged in ERROR_CORRECTIONS sheet, this updates automatically.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2880" y="4617720"/>
            <a:ext cx="87782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4320" y="4617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DB_Customers is 100% READ-ONLY. ALL 15 columns are auto-computed. NEVER type data here. Changes here corrupt the entire system.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— DB_SAVINGS DATABASE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 savings flow into the central savings database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8778240" cy="2286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005840"/>
            <a:ext cx="5303520" cy="1188720"/>
          </a:xfrm>
          <a:prstGeom prst="rect">
            <a:avLst/>
          </a:prstGeom>
          <a:solidFill>
            <a:srgbClr val="172233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05840"/>
            <a:ext cx="5303520" cy="36576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1060704"/>
            <a:ext cx="5084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389888"/>
            <a:ext cx="5084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enters Account # + Amount in their Agent0X_Savings sheet (yellow cells)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DB_Savings auto-aggregates: Rows 4–203 = Agent 01 | Rows 204–403 = Agent 02 | … | Rows 1804–2003 = Agent 10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block = 200 rows = 200 max savings transactions per agent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2331720"/>
            <a:ext cx="4206240" cy="384048"/>
          </a:xfrm>
          <a:prstGeom prst="rect">
            <a:avLst/>
          </a:prstGeom>
          <a:solidFill>
            <a:srgbClr val="172233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331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Account_No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554480" y="2331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account number (from NEW ACCOUNT)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" y="2761488"/>
            <a:ext cx="4206240" cy="384048"/>
          </a:xfrm>
          <a:prstGeom prst="rect">
            <a:avLst/>
          </a:prstGeom>
          <a:solidFill>
            <a:srgbClr val="172233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7614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554480" y="27614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unique ID for each savings entry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2880" y="3191256"/>
            <a:ext cx="4206240" cy="384048"/>
          </a:xfrm>
          <a:prstGeom prst="rect">
            <a:avLst/>
          </a:prstGeom>
          <a:solidFill>
            <a:srgbClr val="172233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31912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Customer_Name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54480" y="31912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Auto-populated from DB_Customers lookup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82880" y="3621024"/>
            <a:ext cx="4206240" cy="384048"/>
          </a:xfrm>
          <a:prstGeom prst="rect">
            <a:avLst/>
          </a:prstGeom>
          <a:solidFill>
            <a:srgbClr val="172233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36210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554480" y="36210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name — auto-set from agent sheet (e.g. Agent 01)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" y="4050792"/>
            <a:ext cx="4206240" cy="384048"/>
          </a:xfrm>
          <a:prstGeom prst="rect">
            <a:avLst/>
          </a:prstGeom>
          <a:solidFill>
            <a:srgbClr val="172233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40507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554480" y="40507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Auto-filled with today's date when entry is made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82880" y="4480560"/>
            <a:ext cx="4206240" cy="384048"/>
          </a:xfrm>
          <a:prstGeom prst="rect">
            <a:avLst/>
          </a:prstGeom>
          <a:solidFill>
            <a:srgbClr val="172233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44805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Amount_GHS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554480" y="4480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amount entered by the agent (yellow input)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0" y="2331720"/>
            <a:ext cx="4206240" cy="384048"/>
          </a:xfrm>
          <a:prstGeom prst="rect">
            <a:avLst/>
          </a:prstGeom>
          <a:solidFill>
            <a:srgbClr val="172233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2331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New_Balance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943600" y="2331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Auto-computed: Previous Balance + Amount_GHS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0" y="2761488"/>
            <a:ext cx="4206240" cy="384048"/>
          </a:xfrm>
          <a:prstGeom prst="rect">
            <a:avLst/>
          </a:prstGeom>
          <a:solidFill>
            <a:srgbClr val="172233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45152" y="27614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943600" y="27614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Auto-confirms if agent code matches; shows 🔒 if wrong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0" y="3191256"/>
            <a:ext cx="4206240" cy="384048"/>
          </a:xfrm>
          <a:prstGeom prst="rect">
            <a:avLst/>
          </a:prstGeom>
          <a:solidFill>
            <a:srgbClr val="172233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31912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Saved_At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943600" y="31912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auto-recorded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0" y="3621024"/>
            <a:ext cx="4206240" cy="384048"/>
          </a:xfrm>
          <a:prstGeom prst="rect">
            <a:avLst/>
          </a:prstGeom>
          <a:solidFill>
            <a:srgbClr val="172233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45152" y="36210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943600" y="36210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agent may leave a note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0" y="4050792"/>
            <a:ext cx="4206240" cy="384048"/>
          </a:xfrm>
          <a:prstGeom prst="rect">
            <a:avLst/>
          </a:prstGeom>
          <a:solidFill>
            <a:srgbClr val="172233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45152" y="40507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943600" y="40507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Auto-extracted from Date for annual reporting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0" y="4480560"/>
            <a:ext cx="4206240" cy="384048"/>
          </a:xfrm>
          <a:prstGeom prst="rect">
            <a:avLst/>
          </a:prstGeom>
          <a:solidFill>
            <a:srgbClr val="172233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45152" y="44805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Correction_Adj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943600" y="4480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 only if ERROR_CORRECTIONS entry exists for this record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82880" y="4956048"/>
            <a:ext cx="87782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74320" y="495604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DB_Savings is READ-ONLY. Never type in this sheet. Agents only enter data in their own Agent0X_Savings sheet.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DB_WITHDRAWALS DATABASE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 records auto-aggregated from all 10 agents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8778240" cy="22860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005840"/>
            <a:ext cx="8778240" cy="822960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05840"/>
            <a:ext cx="8778240" cy="36576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1060704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389888"/>
            <a:ext cx="8558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block structure as DB_Savings: Rows 4–203 = Agent 01, 204–403 = Agent 02, etc. Each agent has 200 withdrawal slots.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flows automatically from each agent's Agent0X_Withdrawals sheet. NO manual entry in this database.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1965960"/>
            <a:ext cx="4206240" cy="37490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965960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Account_No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828800" y="1965960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account number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" y="2386584"/>
            <a:ext cx="4206240" cy="37490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386584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828800" y="2386584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unique withdrawal ID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2880" y="2807208"/>
            <a:ext cx="4206240" cy="37490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807208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Customer_Name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828800" y="2807208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Auto-populated from customer lookup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82880" y="3227832"/>
            <a:ext cx="4206240" cy="37490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3227832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Balance_Before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828800" y="3227832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Customer's balance BEFORE the withdrawal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" y="3648456"/>
            <a:ext cx="4206240" cy="37490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648456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828800" y="3648456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Auto-filled transaction date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82880" y="4069080"/>
            <a:ext cx="4206240" cy="37490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4069080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Authorized_By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828800" y="4069080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person authorizing (manager/agent enters)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2880" y="4489704"/>
            <a:ext cx="4206240" cy="37490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489704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Withdrawal_Amt_GHS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828800" y="4489704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withdrawn (yellow input in agent sheet)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0" y="1965960"/>
            <a:ext cx="4206240" cy="37490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45152" y="1965960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New_Balance_GHS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17920" y="1965960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Balance_Before − Withdrawal_Amt_GHS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0" y="2386584"/>
            <a:ext cx="4206240" cy="37490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2386584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17920" y="2386584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who processed the withdrawal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0" y="2807208"/>
            <a:ext cx="4206240" cy="37490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45152" y="2807208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17920" y="2807208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/ Insufficient / Wrong Code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0" y="3227832"/>
            <a:ext cx="4206240" cy="37490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45152" y="3227832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Saved_At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17920" y="3227832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Auto-timestamp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0" y="3648456"/>
            <a:ext cx="4206240" cy="37490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45152" y="3648456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Min_Bal_Compliant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217920" y="3648456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if GHS 10 reserve maintained, NO if breach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572000" y="4069080"/>
            <a:ext cx="4206240" cy="37490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45152" y="4069080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217920" y="4069080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Auto-extracted for annual reporting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82880" y="4956048"/>
            <a:ext cx="87782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74320" y="495604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GHS 10 minimum balance is NON-NEGOTIABLE. Withdrawals that breach this are blocked — status shows 'Insufficient Balance'.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— DB_LOANS DATABASE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records auto-aggregated from all 10 agents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8778240" cy="2286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005840"/>
            <a:ext cx="8778240" cy="822960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05840"/>
            <a:ext cx="8778240" cy="36576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1060704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CALCULATION FORMULA (built into system)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389888"/>
            <a:ext cx="8558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Rate: 2.5% per month (flat rate) — configured in System_Config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Repayable = Loan Amount × (1 + Rate% × Months)  |  Monthly Instalment = Total Repayable ÷ Months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Loan: GHS 100  |  Max Loan: GHS 50,000  |  All computed automatically — agent enters only: Account #, Amount, Purpose, Months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1965960"/>
            <a:ext cx="4206240" cy="37490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965960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Loan_ID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828800" y="1965960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unique loan reference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" y="2386584"/>
            <a:ext cx="4206240" cy="37490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386584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Account_No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828800" y="2386584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account number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2880" y="2807208"/>
            <a:ext cx="4206240" cy="37490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807208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Customer_Name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828800" y="2807208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Auto-populated from lookup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82880" y="3227832"/>
            <a:ext cx="4206240" cy="37490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3227832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Request_Date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828800" y="3227832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Auto-filled today's date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" y="3648456"/>
            <a:ext cx="4206240" cy="37490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648456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Loan_Amount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828800" y="3648456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amount requested (yellow input)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82880" y="4069080"/>
            <a:ext cx="4206240" cy="37490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4069080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828800" y="4069080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loan (yellow input)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2880" y="4489704"/>
            <a:ext cx="4206240" cy="37490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489704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828800" y="4489704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duration in months (yellow input)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0" y="1965960"/>
            <a:ext cx="4206240" cy="37490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45152" y="1965960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Rate_%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17920" y="1965960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Auto-set to 2.5% from System_Config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0" y="2386584"/>
            <a:ext cx="4206240" cy="37490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2386584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Total_Repayable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17920" y="2386584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Auto-calculated: Amount × (1 + 2.5% × Months)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0" y="2807208"/>
            <a:ext cx="4206240" cy="37490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45152" y="2807208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Monthly_Install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17920" y="2807208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Auto-calculated: Total_Repayable ÷ Months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0" y="3227832"/>
            <a:ext cx="4206240" cy="37490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45152" y="3227832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17920" y="3227832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(until manager updates)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0" y="3648456"/>
            <a:ext cx="4206240" cy="37490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45152" y="3648456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217920" y="3648456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Auto-set from agent sheet name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572000" y="4069080"/>
            <a:ext cx="4206240" cy="37490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45152" y="4069080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217920" y="4069080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Auto-extracted for reporting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82880" y="4956048"/>
            <a:ext cx="87782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74320" y="495604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DB_Loans is READ-ONLY. Agents enter loan data ONLY in their Agent0X_Loans sheet. Never type in the database directly.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 — LOAN TOP-UP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additional funds to an existing active loan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8778240" cy="228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005840"/>
            <a:ext cx="4206240" cy="1920240"/>
          </a:xfrm>
          <a:prstGeom prst="rect">
            <a:avLst/>
          </a:prstGeom>
          <a:solidFill>
            <a:srgbClr val="17223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05840"/>
            <a:ext cx="420624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106070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TOP-UP?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389888"/>
            <a:ext cx="398678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Loan Top-Up adds extra funds to an EXISTING approved loan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loan remains active — the top-up is linked via the Parent Loan ID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Loan Balance = Original Remaining + Top-Up Amount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Unified Monthly Repayment is auto-calculated to cover both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 ID and Date are auto-generated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3891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005840"/>
            <a:ext cx="347472" cy="42062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00584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74336" y="100584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LOAN TOPUP sheet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1499616"/>
            <a:ext cx="43891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499616"/>
            <a:ext cx="347472" cy="42062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49961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74336" y="149961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 empty row (Top-Up ID auto-generates)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1993392"/>
            <a:ext cx="43891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993392"/>
            <a:ext cx="347472" cy="42062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199339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74336" y="199339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Number in Column B (yellow)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2487168"/>
            <a:ext cx="43891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2487168"/>
            <a:ext cx="347472" cy="42062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248716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74336" y="248716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 auto-populates from lookup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2980944"/>
            <a:ext cx="43891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2980944"/>
            <a:ext cx="347472" cy="42062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298094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74336" y="298094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Parent Loan ID (from the original loan in DB_Loans)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3474720"/>
            <a:ext cx="43891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3474720"/>
            <a:ext cx="347472" cy="42062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0" y="347472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74336" y="347472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Top-Up Amount (GHS) in Column 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0" y="3968496"/>
            <a:ext cx="43891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3968496"/>
            <a:ext cx="347472" cy="42062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0" y="396849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974336" y="396849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Purpose / Notes in Column 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0" y="4462272"/>
            <a:ext cx="43891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4462272"/>
            <a:ext cx="347472" cy="42062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0" y="446227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974336" y="446227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Agent name in Column J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0" y="4956048"/>
            <a:ext cx="43891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0" y="4956048"/>
            <a:ext cx="347472" cy="42062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0" y="49560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974336" y="495604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Balance &amp; Unified Monthly Repay auto-calculate in Cols H &amp; I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82880" y="3063240"/>
            <a:ext cx="42062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74320" y="30632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TOP-UP REQUIRES an existing active loan. You MUST enter the correct Parent Loan ID from DB_Loans.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82880" y="3703320"/>
            <a:ext cx="42062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274320" y="3703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Do NOT enter a Top-Up for a fully repaid or rejected loan.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82880" y="4343400"/>
            <a:ext cx="4206240" cy="685800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82880" y="4343400"/>
            <a:ext cx="420624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52" name="Text 50"/>
          <p:cNvSpPr/>
          <p:nvPr/>
        </p:nvSpPr>
        <p:spPr>
          <a:xfrm>
            <a:off x="292608" y="439826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— LOAN TOPUP SHEET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92608" y="4727448"/>
            <a:ext cx="3986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Auto: Top-Up ID | Date | Customer Name | Aggregated Balance | Unified Monthly Repay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Manual: Account Number | Parent Loan ID | Top-Up Amount | Purpose | Agent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TRAINING — Agent 01  (Code: 4832)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area: Agent01_Zone  |  Sheets: Agent01_Savings | Agent01_Withdrawals | Agent01_Loans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8778240" cy="2286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987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SAVINGS PROCESS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298448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Agent01_Savings sheet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1792224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A (yellow)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286000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5216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auto-fills Name &amp; Current Balance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779776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5216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Savings Amount in Col E (yellow)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2880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273552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5216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code 4832 in Col 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2880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3767328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5216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auto-confirms ✅ Saved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182112" y="987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🏧 WITHDRAWALS PROCESS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82112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82112" y="1298448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4" name="Text 32"/>
          <p:cNvSpPr/>
          <p:nvPr/>
        </p:nvSpPr>
        <p:spPr>
          <a:xfrm>
            <a:off x="3182112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84448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Agent01_Withdrawals sheet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82112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82112" y="1792224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8" name="Text 36"/>
          <p:cNvSpPr/>
          <p:nvPr/>
        </p:nvSpPr>
        <p:spPr>
          <a:xfrm>
            <a:off x="3182112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584448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A (yellow)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82112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82112" y="2286000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42" name="Text 40"/>
          <p:cNvSpPr/>
          <p:nvPr/>
        </p:nvSpPr>
        <p:spPr>
          <a:xfrm>
            <a:off x="3182112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584448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Withdrawable Balance (Col C) — auto-shown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82112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82112" y="2779776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46" name="Text 44"/>
          <p:cNvSpPr/>
          <p:nvPr/>
        </p:nvSpPr>
        <p:spPr>
          <a:xfrm>
            <a:off x="3182112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584448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Withdrawal Amount in Col 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182112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82112" y="3273552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50" name="Text 48"/>
          <p:cNvSpPr/>
          <p:nvPr/>
        </p:nvSpPr>
        <p:spPr>
          <a:xfrm>
            <a:off x="3182112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584448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Authorized By in Col F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182112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82112" y="3767328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54" name="Text 52"/>
          <p:cNvSpPr/>
          <p:nvPr/>
        </p:nvSpPr>
        <p:spPr>
          <a:xfrm>
            <a:off x="3182112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3584448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code 4832 in Col I to authorize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181344" y="987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LOAN REQUEST PROCESS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181344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81344" y="1298448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59" name="Text 57"/>
          <p:cNvSpPr/>
          <p:nvPr/>
        </p:nvSpPr>
        <p:spPr>
          <a:xfrm>
            <a:off x="6181344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583680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Agent01_Loans sheet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181344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81344" y="1792224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63" name="Text 61"/>
          <p:cNvSpPr/>
          <p:nvPr/>
        </p:nvSpPr>
        <p:spPr>
          <a:xfrm>
            <a:off x="6181344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6583680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Loan Calculator (top of sheet) first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181344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81344" y="2286000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67" name="Text 65"/>
          <p:cNvSpPr/>
          <p:nvPr/>
        </p:nvSpPr>
        <p:spPr>
          <a:xfrm>
            <a:off x="6181344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583680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B (yellow)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181344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181344" y="2779776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1" name="Text 69"/>
          <p:cNvSpPr/>
          <p:nvPr/>
        </p:nvSpPr>
        <p:spPr>
          <a:xfrm>
            <a:off x="6181344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6583680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Loan Amount in Col 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181344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181344" y="3273552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5" name="Text 73"/>
          <p:cNvSpPr/>
          <p:nvPr/>
        </p:nvSpPr>
        <p:spPr>
          <a:xfrm>
            <a:off x="6181344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6583680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Purpose in Col F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181344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81344" y="3767328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9" name="Text 77"/>
          <p:cNvSpPr/>
          <p:nvPr/>
        </p:nvSpPr>
        <p:spPr>
          <a:xfrm>
            <a:off x="6181344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6583680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Months in Col G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181344" y="426110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181344" y="4261104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83" name="Text 81"/>
          <p:cNvSpPr/>
          <p:nvPr/>
        </p:nvSpPr>
        <p:spPr>
          <a:xfrm>
            <a:off x="6181344" y="426110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6583680" y="42611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code 4832 in Col M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82880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274320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use another agent's code. Only 4832 is valid here.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3182112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3273552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withdraw below GHS 10 reserve — system will block it.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181344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6272784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type in blue cells or DB sheets. Enter data in yellow cells ONLY.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TRAINING — Agent 02  (Code: 9174)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area: Agent02_Zone  |  Sheets: Agent02_Savings | Agent02_Withdrawals | Agent02_Loans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8778240" cy="2286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987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SAVINGS PROCESS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298448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Agent02_Savings sheet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1792224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A (yellow)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286000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5216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auto-fills Name &amp; Current Balance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779776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5216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Savings Amount in Col E (yellow)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2880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273552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5216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code 9174 in Col 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2880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3767328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5216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auto-confirms ✅ Saved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182112" y="987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🏧 WITHDRAWALS PROCESS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82112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82112" y="1298448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4" name="Text 32"/>
          <p:cNvSpPr/>
          <p:nvPr/>
        </p:nvSpPr>
        <p:spPr>
          <a:xfrm>
            <a:off x="3182112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84448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Agent02_Withdrawals sheet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82112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82112" y="1792224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8" name="Text 36"/>
          <p:cNvSpPr/>
          <p:nvPr/>
        </p:nvSpPr>
        <p:spPr>
          <a:xfrm>
            <a:off x="3182112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584448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A (yellow)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82112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82112" y="2286000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42" name="Text 40"/>
          <p:cNvSpPr/>
          <p:nvPr/>
        </p:nvSpPr>
        <p:spPr>
          <a:xfrm>
            <a:off x="3182112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584448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Withdrawable Balance (Col C) — auto-shown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82112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82112" y="2779776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46" name="Text 44"/>
          <p:cNvSpPr/>
          <p:nvPr/>
        </p:nvSpPr>
        <p:spPr>
          <a:xfrm>
            <a:off x="3182112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584448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Withdrawal Amount in Col 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182112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82112" y="3273552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50" name="Text 48"/>
          <p:cNvSpPr/>
          <p:nvPr/>
        </p:nvSpPr>
        <p:spPr>
          <a:xfrm>
            <a:off x="3182112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584448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Authorized By in Col F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182112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82112" y="3767328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54" name="Text 52"/>
          <p:cNvSpPr/>
          <p:nvPr/>
        </p:nvSpPr>
        <p:spPr>
          <a:xfrm>
            <a:off x="3182112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3584448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code 9174 in Col I to authorize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181344" y="987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LOAN REQUEST PROCESS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181344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81344" y="1298448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59" name="Text 57"/>
          <p:cNvSpPr/>
          <p:nvPr/>
        </p:nvSpPr>
        <p:spPr>
          <a:xfrm>
            <a:off x="6181344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583680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Agent02_Loans sheet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181344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81344" y="1792224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63" name="Text 61"/>
          <p:cNvSpPr/>
          <p:nvPr/>
        </p:nvSpPr>
        <p:spPr>
          <a:xfrm>
            <a:off x="6181344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6583680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Loan Calculator (top of sheet) first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181344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81344" y="2286000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67" name="Text 65"/>
          <p:cNvSpPr/>
          <p:nvPr/>
        </p:nvSpPr>
        <p:spPr>
          <a:xfrm>
            <a:off x="6181344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583680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B (yellow)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181344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181344" y="2779776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1" name="Text 69"/>
          <p:cNvSpPr/>
          <p:nvPr/>
        </p:nvSpPr>
        <p:spPr>
          <a:xfrm>
            <a:off x="6181344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6583680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Loan Amount in Col 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181344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181344" y="3273552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5" name="Text 73"/>
          <p:cNvSpPr/>
          <p:nvPr/>
        </p:nvSpPr>
        <p:spPr>
          <a:xfrm>
            <a:off x="6181344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6583680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Purpose in Col F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181344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81344" y="3767328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9" name="Text 77"/>
          <p:cNvSpPr/>
          <p:nvPr/>
        </p:nvSpPr>
        <p:spPr>
          <a:xfrm>
            <a:off x="6181344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6583680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Months in Col G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181344" y="426110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181344" y="4261104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83" name="Text 81"/>
          <p:cNvSpPr/>
          <p:nvPr/>
        </p:nvSpPr>
        <p:spPr>
          <a:xfrm>
            <a:off x="6181344" y="426110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6583680" y="42611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code 9174 in Col M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82880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274320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use another agent's code. Only 9174 is valid here.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3182112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3273552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withdraw below GHS 10 reserve — system will block it.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181344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6272784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type in blue cells or DB sheets. Enter data in yellow cells ONLY.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TRAINING — Agent 03  (Code: 2651)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area: Agent03_Zone  |  Sheets: Agent03_Savings | Agent03_Withdrawals | Agent03_Loans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8778240" cy="22860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987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SAVINGS PROCESS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298448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Agent03_Savings sheet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1792224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A (yellow)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286000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5216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auto-fills Name &amp; Current Balance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779776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5216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Savings Amount in Col E (yellow)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2880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273552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5216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code 2651 in Col 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2880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3767328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5216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auto-confirms ✅ Saved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182112" y="987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🏧 WITHDRAWALS PROCESS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82112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82112" y="1298448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4" name="Text 32"/>
          <p:cNvSpPr/>
          <p:nvPr/>
        </p:nvSpPr>
        <p:spPr>
          <a:xfrm>
            <a:off x="3182112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84448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Agent03_Withdrawals sheet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82112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82112" y="1792224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8" name="Text 36"/>
          <p:cNvSpPr/>
          <p:nvPr/>
        </p:nvSpPr>
        <p:spPr>
          <a:xfrm>
            <a:off x="3182112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584448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A (yellow)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82112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82112" y="2286000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42" name="Text 40"/>
          <p:cNvSpPr/>
          <p:nvPr/>
        </p:nvSpPr>
        <p:spPr>
          <a:xfrm>
            <a:off x="3182112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584448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Withdrawable Balance (Col C) — auto-shown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82112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82112" y="2779776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46" name="Text 44"/>
          <p:cNvSpPr/>
          <p:nvPr/>
        </p:nvSpPr>
        <p:spPr>
          <a:xfrm>
            <a:off x="3182112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584448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Withdrawal Amount in Col 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182112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82112" y="3273552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50" name="Text 48"/>
          <p:cNvSpPr/>
          <p:nvPr/>
        </p:nvSpPr>
        <p:spPr>
          <a:xfrm>
            <a:off x="3182112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584448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Authorized By in Col F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182112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82112" y="3767328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54" name="Text 52"/>
          <p:cNvSpPr/>
          <p:nvPr/>
        </p:nvSpPr>
        <p:spPr>
          <a:xfrm>
            <a:off x="3182112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3584448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code 2651 in Col I to authorize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181344" y="987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LOAN REQUEST PROCESS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181344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81344" y="1298448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59" name="Text 57"/>
          <p:cNvSpPr/>
          <p:nvPr/>
        </p:nvSpPr>
        <p:spPr>
          <a:xfrm>
            <a:off x="6181344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583680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Agent03_Loans sheet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181344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81344" y="1792224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63" name="Text 61"/>
          <p:cNvSpPr/>
          <p:nvPr/>
        </p:nvSpPr>
        <p:spPr>
          <a:xfrm>
            <a:off x="6181344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6583680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Loan Calculator (top of sheet) first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181344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81344" y="2286000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67" name="Text 65"/>
          <p:cNvSpPr/>
          <p:nvPr/>
        </p:nvSpPr>
        <p:spPr>
          <a:xfrm>
            <a:off x="6181344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583680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B (yellow)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181344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181344" y="2779776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1" name="Text 69"/>
          <p:cNvSpPr/>
          <p:nvPr/>
        </p:nvSpPr>
        <p:spPr>
          <a:xfrm>
            <a:off x="6181344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6583680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Loan Amount in Col 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181344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181344" y="3273552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5" name="Text 73"/>
          <p:cNvSpPr/>
          <p:nvPr/>
        </p:nvSpPr>
        <p:spPr>
          <a:xfrm>
            <a:off x="6181344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6583680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Purpose in Col F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181344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81344" y="3767328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9" name="Text 77"/>
          <p:cNvSpPr/>
          <p:nvPr/>
        </p:nvSpPr>
        <p:spPr>
          <a:xfrm>
            <a:off x="6181344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6583680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Months in Col G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181344" y="426110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181344" y="4261104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83" name="Text 81"/>
          <p:cNvSpPr/>
          <p:nvPr/>
        </p:nvSpPr>
        <p:spPr>
          <a:xfrm>
            <a:off x="6181344" y="426110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6583680" y="42611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code 2651 in Col M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82880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274320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use another agent's code. Only 2651 is valid here.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3182112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3273552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withdraw below GHS 10 reserve — system will block it.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181344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6272784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type in blue cells or DB sheets. Enter data in yellow cells ONLY.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TRAINING — Agent 04  (Code: 7389)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area: Agent04_Zone  |  Sheets: Agent04_Savings | Agent04_Withdrawals | Agent04_Loans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8778240" cy="228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987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SAVINGS PROCESS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298448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Agent04_Savings sheet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1792224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A (yellow)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286000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5216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auto-fills Name &amp; Current Balance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779776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5216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Savings Amount in Col E (yellow)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2880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273552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5216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code 7389 in Col 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2880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3767328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5216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auto-confirms ✅ Saved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182112" y="987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🏧 WITHDRAWALS PROCESS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82112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82112" y="1298448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4" name="Text 32"/>
          <p:cNvSpPr/>
          <p:nvPr/>
        </p:nvSpPr>
        <p:spPr>
          <a:xfrm>
            <a:off x="3182112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84448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Agent04_Withdrawals sheet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82112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82112" y="1792224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8" name="Text 36"/>
          <p:cNvSpPr/>
          <p:nvPr/>
        </p:nvSpPr>
        <p:spPr>
          <a:xfrm>
            <a:off x="3182112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584448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A (yellow)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82112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82112" y="2286000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42" name="Text 40"/>
          <p:cNvSpPr/>
          <p:nvPr/>
        </p:nvSpPr>
        <p:spPr>
          <a:xfrm>
            <a:off x="3182112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584448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Withdrawable Balance (Col C) — auto-shown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82112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82112" y="2779776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46" name="Text 44"/>
          <p:cNvSpPr/>
          <p:nvPr/>
        </p:nvSpPr>
        <p:spPr>
          <a:xfrm>
            <a:off x="3182112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584448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Withdrawal Amount in Col 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182112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82112" y="3273552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50" name="Text 48"/>
          <p:cNvSpPr/>
          <p:nvPr/>
        </p:nvSpPr>
        <p:spPr>
          <a:xfrm>
            <a:off x="3182112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584448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Authorized By in Col F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182112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82112" y="3767328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54" name="Text 52"/>
          <p:cNvSpPr/>
          <p:nvPr/>
        </p:nvSpPr>
        <p:spPr>
          <a:xfrm>
            <a:off x="3182112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3584448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code 7389 in Col I to authorize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181344" y="987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LOAN REQUEST PROCESS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181344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81344" y="1298448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59" name="Text 57"/>
          <p:cNvSpPr/>
          <p:nvPr/>
        </p:nvSpPr>
        <p:spPr>
          <a:xfrm>
            <a:off x="6181344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583680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Agent04_Loans sheet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181344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81344" y="1792224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63" name="Text 61"/>
          <p:cNvSpPr/>
          <p:nvPr/>
        </p:nvSpPr>
        <p:spPr>
          <a:xfrm>
            <a:off x="6181344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6583680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Loan Calculator (top of sheet) first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181344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81344" y="2286000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67" name="Text 65"/>
          <p:cNvSpPr/>
          <p:nvPr/>
        </p:nvSpPr>
        <p:spPr>
          <a:xfrm>
            <a:off x="6181344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583680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B (yellow)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181344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181344" y="2779776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1" name="Text 69"/>
          <p:cNvSpPr/>
          <p:nvPr/>
        </p:nvSpPr>
        <p:spPr>
          <a:xfrm>
            <a:off x="6181344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6583680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Loan Amount in Col 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181344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181344" y="3273552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5" name="Text 73"/>
          <p:cNvSpPr/>
          <p:nvPr/>
        </p:nvSpPr>
        <p:spPr>
          <a:xfrm>
            <a:off x="6181344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6583680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Purpose in Col F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181344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81344" y="3767328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9" name="Text 77"/>
          <p:cNvSpPr/>
          <p:nvPr/>
        </p:nvSpPr>
        <p:spPr>
          <a:xfrm>
            <a:off x="6181344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6583680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Months in Col G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181344" y="426110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181344" y="4261104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83" name="Text 81"/>
          <p:cNvSpPr/>
          <p:nvPr/>
        </p:nvSpPr>
        <p:spPr>
          <a:xfrm>
            <a:off x="6181344" y="426110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6583680" y="42611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code 7389 in Col M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82880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274320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use another agent's code. Only 7389 is valid here.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3182112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3273552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withdraw below GHS 10 reserve — system will block it.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181344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6272784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type in blue cells or DB sheets. Enter data in yellow cells ONLY.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TRAINING — Agent 05  (Code: 5216)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area: Agent05_Zone  |  Sheets: Agent05_Savings | Agent05_Withdrawals | Agent05_Loans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8778240" cy="2286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987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SAVINGS PROCESS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298448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Agent05_Savings sheet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1792224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A (yellow)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286000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5216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auto-fills Name &amp; Current Balance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779776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5216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Savings Amount in Col E (yellow)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2880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273552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5216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code 5216 in Col 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2880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3767328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5216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auto-confirms ✅ Saved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182112" y="987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🏧 WITHDRAWALS PROCESS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82112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82112" y="1298448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4" name="Text 32"/>
          <p:cNvSpPr/>
          <p:nvPr/>
        </p:nvSpPr>
        <p:spPr>
          <a:xfrm>
            <a:off x="3182112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84448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Agent05_Withdrawals sheet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82112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82112" y="1792224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8" name="Text 36"/>
          <p:cNvSpPr/>
          <p:nvPr/>
        </p:nvSpPr>
        <p:spPr>
          <a:xfrm>
            <a:off x="3182112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584448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A (yellow)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82112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82112" y="2286000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42" name="Text 40"/>
          <p:cNvSpPr/>
          <p:nvPr/>
        </p:nvSpPr>
        <p:spPr>
          <a:xfrm>
            <a:off x="3182112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584448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Withdrawable Balance (Col C) — auto-shown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82112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82112" y="2779776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46" name="Text 44"/>
          <p:cNvSpPr/>
          <p:nvPr/>
        </p:nvSpPr>
        <p:spPr>
          <a:xfrm>
            <a:off x="3182112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584448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Withdrawal Amount in Col 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182112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82112" y="3273552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50" name="Text 48"/>
          <p:cNvSpPr/>
          <p:nvPr/>
        </p:nvSpPr>
        <p:spPr>
          <a:xfrm>
            <a:off x="3182112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584448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Authorized By in Col F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182112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82112" y="3767328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54" name="Text 52"/>
          <p:cNvSpPr/>
          <p:nvPr/>
        </p:nvSpPr>
        <p:spPr>
          <a:xfrm>
            <a:off x="3182112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3584448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code 5216 in Col I to authorize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181344" y="987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LOAN REQUEST PROCESS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181344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81344" y="1298448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59" name="Text 57"/>
          <p:cNvSpPr/>
          <p:nvPr/>
        </p:nvSpPr>
        <p:spPr>
          <a:xfrm>
            <a:off x="6181344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583680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Agent05_Loans sheet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181344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81344" y="1792224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63" name="Text 61"/>
          <p:cNvSpPr/>
          <p:nvPr/>
        </p:nvSpPr>
        <p:spPr>
          <a:xfrm>
            <a:off x="6181344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6583680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Loan Calculator (top of sheet) first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181344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81344" y="2286000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67" name="Text 65"/>
          <p:cNvSpPr/>
          <p:nvPr/>
        </p:nvSpPr>
        <p:spPr>
          <a:xfrm>
            <a:off x="6181344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583680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B (yellow)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181344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181344" y="2779776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1" name="Text 69"/>
          <p:cNvSpPr/>
          <p:nvPr/>
        </p:nvSpPr>
        <p:spPr>
          <a:xfrm>
            <a:off x="6181344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6583680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Loan Amount in Col 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181344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181344" y="3273552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5" name="Text 73"/>
          <p:cNvSpPr/>
          <p:nvPr/>
        </p:nvSpPr>
        <p:spPr>
          <a:xfrm>
            <a:off x="6181344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6583680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Purpose in Col F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181344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81344" y="3767328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9" name="Text 77"/>
          <p:cNvSpPr/>
          <p:nvPr/>
        </p:nvSpPr>
        <p:spPr>
          <a:xfrm>
            <a:off x="6181344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6583680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Months in Col G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181344" y="426110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181344" y="4261104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83" name="Text 81"/>
          <p:cNvSpPr/>
          <p:nvPr/>
        </p:nvSpPr>
        <p:spPr>
          <a:xfrm>
            <a:off x="6181344" y="426110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6583680" y="42611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code 5216 in Col M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82880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274320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use another agent's code. Only 5216 is valid here.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3182112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3273552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withdraw below GHS 10 reserve — system will block it.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181344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6272784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type in blue cells or DB sheets. Enter data in yellow cells ONLY.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TRAINING — Agent 06  (Code: 8043)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area: Agent06_Zone  |  Sheets: Agent06_Savings | Agent06_Withdrawals | Agent06_Loans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8778240" cy="2286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987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SAVINGS PROCESS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298448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Agent06_Savings sheet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1792224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A (yellow)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286000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5216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auto-fills Name &amp; Current Balance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779776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5216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Savings Amount in Col E (yellow)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2880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273552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5216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code 8043 in Col 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2880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3767328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5216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auto-confirms ✅ Saved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182112" y="987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🏧 WITHDRAWALS PROCESS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82112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82112" y="1298448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4" name="Text 32"/>
          <p:cNvSpPr/>
          <p:nvPr/>
        </p:nvSpPr>
        <p:spPr>
          <a:xfrm>
            <a:off x="3182112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84448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Agent06_Withdrawals sheet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82112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82112" y="1792224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8" name="Text 36"/>
          <p:cNvSpPr/>
          <p:nvPr/>
        </p:nvSpPr>
        <p:spPr>
          <a:xfrm>
            <a:off x="3182112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584448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A (yellow)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82112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82112" y="2286000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42" name="Text 40"/>
          <p:cNvSpPr/>
          <p:nvPr/>
        </p:nvSpPr>
        <p:spPr>
          <a:xfrm>
            <a:off x="3182112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584448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Withdrawable Balance (Col C) — auto-shown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82112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82112" y="2779776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46" name="Text 44"/>
          <p:cNvSpPr/>
          <p:nvPr/>
        </p:nvSpPr>
        <p:spPr>
          <a:xfrm>
            <a:off x="3182112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584448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Withdrawal Amount in Col 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182112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82112" y="3273552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50" name="Text 48"/>
          <p:cNvSpPr/>
          <p:nvPr/>
        </p:nvSpPr>
        <p:spPr>
          <a:xfrm>
            <a:off x="3182112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584448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Authorized By in Col F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182112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82112" y="3767328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54" name="Text 52"/>
          <p:cNvSpPr/>
          <p:nvPr/>
        </p:nvSpPr>
        <p:spPr>
          <a:xfrm>
            <a:off x="3182112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3584448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code 8043 in Col I to authorize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181344" y="987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LOAN REQUEST PROCESS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181344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81344" y="1298448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59" name="Text 57"/>
          <p:cNvSpPr/>
          <p:nvPr/>
        </p:nvSpPr>
        <p:spPr>
          <a:xfrm>
            <a:off x="6181344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583680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Agent06_Loans sheet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181344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81344" y="1792224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63" name="Text 61"/>
          <p:cNvSpPr/>
          <p:nvPr/>
        </p:nvSpPr>
        <p:spPr>
          <a:xfrm>
            <a:off x="6181344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6583680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Loan Calculator (top of sheet) first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181344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81344" y="2286000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67" name="Text 65"/>
          <p:cNvSpPr/>
          <p:nvPr/>
        </p:nvSpPr>
        <p:spPr>
          <a:xfrm>
            <a:off x="6181344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583680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B (yellow)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181344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181344" y="2779776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1" name="Text 69"/>
          <p:cNvSpPr/>
          <p:nvPr/>
        </p:nvSpPr>
        <p:spPr>
          <a:xfrm>
            <a:off x="6181344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6583680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Loan Amount in Col 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181344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181344" y="3273552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5" name="Text 73"/>
          <p:cNvSpPr/>
          <p:nvPr/>
        </p:nvSpPr>
        <p:spPr>
          <a:xfrm>
            <a:off x="6181344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6583680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Purpose in Col F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181344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81344" y="3767328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9" name="Text 77"/>
          <p:cNvSpPr/>
          <p:nvPr/>
        </p:nvSpPr>
        <p:spPr>
          <a:xfrm>
            <a:off x="6181344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6583680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Months in Col G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181344" y="426110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181344" y="4261104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83" name="Text 81"/>
          <p:cNvSpPr/>
          <p:nvPr/>
        </p:nvSpPr>
        <p:spPr>
          <a:xfrm>
            <a:off x="6181344" y="426110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6583680" y="42611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code 8043 in Col M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82880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274320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use another agent's code. Only 8043 is valid here.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3182112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3273552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withdraw below GHS 10 reserve — system will block it.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181344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6272784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type in blue cells or DB sheets. Enter data in yellow cells ONLY.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TRAINING — Agent 07  (Code: 3571)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area: Agent07_Zone  |  Sheets: Agent07_Savings | Agent07_Withdrawals | Agent07_Loans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8778240" cy="228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987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SAVINGS PROCESS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298448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Agent07_Savings sheet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1792224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A (yellow)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286000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5216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auto-fills Name &amp; Current Balance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779776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5216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Savings Amount in Col E (yellow)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2880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273552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5216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code 3571 in Col 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2880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3767328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5216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auto-confirms ✅ Saved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182112" y="987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🏧 WITHDRAWALS PROCESS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82112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82112" y="1298448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4" name="Text 32"/>
          <p:cNvSpPr/>
          <p:nvPr/>
        </p:nvSpPr>
        <p:spPr>
          <a:xfrm>
            <a:off x="3182112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84448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Agent07_Withdrawals sheet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82112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82112" y="1792224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8" name="Text 36"/>
          <p:cNvSpPr/>
          <p:nvPr/>
        </p:nvSpPr>
        <p:spPr>
          <a:xfrm>
            <a:off x="3182112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584448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A (yellow)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82112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82112" y="2286000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42" name="Text 40"/>
          <p:cNvSpPr/>
          <p:nvPr/>
        </p:nvSpPr>
        <p:spPr>
          <a:xfrm>
            <a:off x="3182112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584448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Withdrawable Balance (Col C) — auto-shown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82112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82112" y="2779776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46" name="Text 44"/>
          <p:cNvSpPr/>
          <p:nvPr/>
        </p:nvSpPr>
        <p:spPr>
          <a:xfrm>
            <a:off x="3182112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584448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Withdrawal Amount in Col 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182112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82112" y="3273552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50" name="Text 48"/>
          <p:cNvSpPr/>
          <p:nvPr/>
        </p:nvSpPr>
        <p:spPr>
          <a:xfrm>
            <a:off x="3182112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584448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Authorized By in Col F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182112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82112" y="3767328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54" name="Text 52"/>
          <p:cNvSpPr/>
          <p:nvPr/>
        </p:nvSpPr>
        <p:spPr>
          <a:xfrm>
            <a:off x="3182112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3584448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code 3571 in Col I to authorize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181344" y="987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LOAN REQUEST PROCESS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181344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81344" y="1298448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59" name="Text 57"/>
          <p:cNvSpPr/>
          <p:nvPr/>
        </p:nvSpPr>
        <p:spPr>
          <a:xfrm>
            <a:off x="6181344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583680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Agent07_Loans sheet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181344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81344" y="1792224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63" name="Text 61"/>
          <p:cNvSpPr/>
          <p:nvPr/>
        </p:nvSpPr>
        <p:spPr>
          <a:xfrm>
            <a:off x="6181344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6583680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Loan Calculator (top of sheet) first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181344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81344" y="2286000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67" name="Text 65"/>
          <p:cNvSpPr/>
          <p:nvPr/>
        </p:nvSpPr>
        <p:spPr>
          <a:xfrm>
            <a:off x="6181344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583680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B (yellow)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181344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181344" y="2779776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1" name="Text 69"/>
          <p:cNvSpPr/>
          <p:nvPr/>
        </p:nvSpPr>
        <p:spPr>
          <a:xfrm>
            <a:off x="6181344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6583680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Loan Amount in Col 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181344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181344" y="3273552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5" name="Text 73"/>
          <p:cNvSpPr/>
          <p:nvPr/>
        </p:nvSpPr>
        <p:spPr>
          <a:xfrm>
            <a:off x="6181344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6583680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Purpose in Col F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181344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81344" y="3767328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9" name="Text 77"/>
          <p:cNvSpPr/>
          <p:nvPr/>
        </p:nvSpPr>
        <p:spPr>
          <a:xfrm>
            <a:off x="6181344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6583680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Months in Col G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181344" y="426110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181344" y="4261104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83" name="Text 81"/>
          <p:cNvSpPr/>
          <p:nvPr/>
        </p:nvSpPr>
        <p:spPr>
          <a:xfrm>
            <a:off x="6181344" y="426110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6583680" y="42611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code 3571 in Col M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82880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274320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use another agent's code. Only 3571 is valid here.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3182112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3273552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withdraw below GHS 10 reserve — system will block it.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181344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6272784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type in blue cells or DB sheets. Enter data in yellow cells ONLY.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TRAINING — Agent 08  (Code: 6920)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area: Agent08_Zone  |  Sheets: Agent08_Savings | Agent08_Withdrawals | Agent08_Loans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8778240" cy="2286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987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SAVINGS PROCESS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298448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Agent08_Savings sheet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1792224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A (yellow)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286000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5216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auto-fills Name &amp; Current Balance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779776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5216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Savings Amount in Col E (yellow)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2880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273552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5216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code 6920 in Col 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2880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3767328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5216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auto-confirms ✅ Saved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182112" y="987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🏧 WITHDRAWALS PROCESS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82112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82112" y="1298448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4" name="Text 32"/>
          <p:cNvSpPr/>
          <p:nvPr/>
        </p:nvSpPr>
        <p:spPr>
          <a:xfrm>
            <a:off x="3182112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84448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Agent08_Withdrawals sheet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82112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82112" y="1792224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8" name="Text 36"/>
          <p:cNvSpPr/>
          <p:nvPr/>
        </p:nvSpPr>
        <p:spPr>
          <a:xfrm>
            <a:off x="3182112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584448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A (yellow)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82112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82112" y="2286000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42" name="Text 40"/>
          <p:cNvSpPr/>
          <p:nvPr/>
        </p:nvSpPr>
        <p:spPr>
          <a:xfrm>
            <a:off x="3182112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584448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Withdrawable Balance (Col C) — auto-shown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82112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82112" y="2779776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46" name="Text 44"/>
          <p:cNvSpPr/>
          <p:nvPr/>
        </p:nvSpPr>
        <p:spPr>
          <a:xfrm>
            <a:off x="3182112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584448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Withdrawal Amount in Col 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182112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82112" y="3273552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50" name="Text 48"/>
          <p:cNvSpPr/>
          <p:nvPr/>
        </p:nvSpPr>
        <p:spPr>
          <a:xfrm>
            <a:off x="3182112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584448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Authorized By in Col F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182112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82112" y="3767328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54" name="Text 52"/>
          <p:cNvSpPr/>
          <p:nvPr/>
        </p:nvSpPr>
        <p:spPr>
          <a:xfrm>
            <a:off x="3182112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3584448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code 6920 in Col I to authorize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181344" y="987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LOAN REQUEST PROCESS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181344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81344" y="1298448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59" name="Text 57"/>
          <p:cNvSpPr/>
          <p:nvPr/>
        </p:nvSpPr>
        <p:spPr>
          <a:xfrm>
            <a:off x="6181344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583680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Agent08_Loans sheet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181344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81344" y="1792224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63" name="Text 61"/>
          <p:cNvSpPr/>
          <p:nvPr/>
        </p:nvSpPr>
        <p:spPr>
          <a:xfrm>
            <a:off x="6181344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6583680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Loan Calculator (top of sheet) first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181344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81344" y="2286000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67" name="Text 65"/>
          <p:cNvSpPr/>
          <p:nvPr/>
        </p:nvSpPr>
        <p:spPr>
          <a:xfrm>
            <a:off x="6181344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583680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B (yellow)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181344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181344" y="2779776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1" name="Text 69"/>
          <p:cNvSpPr/>
          <p:nvPr/>
        </p:nvSpPr>
        <p:spPr>
          <a:xfrm>
            <a:off x="6181344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6583680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Loan Amount in Col 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181344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181344" y="3273552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5" name="Text 73"/>
          <p:cNvSpPr/>
          <p:nvPr/>
        </p:nvSpPr>
        <p:spPr>
          <a:xfrm>
            <a:off x="6181344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6583680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Purpose in Col F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181344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81344" y="3767328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9" name="Text 77"/>
          <p:cNvSpPr/>
          <p:nvPr/>
        </p:nvSpPr>
        <p:spPr>
          <a:xfrm>
            <a:off x="6181344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6583680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Months in Col G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181344" y="426110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181344" y="4261104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83" name="Text 81"/>
          <p:cNvSpPr/>
          <p:nvPr/>
        </p:nvSpPr>
        <p:spPr>
          <a:xfrm>
            <a:off x="6181344" y="426110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6583680" y="42611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code 6920 in Col M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82880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274320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use another agent's code. Only 6920 is valid here.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3182112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3273552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withdraw below GHS 10 reserve — system will block it.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181344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6272784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type in blue cells or DB sheets. Enter data in yellow cells ONLY.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TRAINING — Agent 09  (Code: 1748)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area: Agent09_Zone  |  Sheets: Agent09_Savings | Agent09_Withdrawals | Agent09_Loans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8778240" cy="22860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987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SAVINGS PROCESS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298448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Agent09_Savings sheet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1792224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A (yellow)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286000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5216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auto-fills Name &amp; Current Balance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779776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5216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Savings Amount in Col E (yellow)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2880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273552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5216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code 1748 in Col 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2880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3767328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5216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auto-confirms ✅ Saved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182112" y="987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🏧 WITHDRAWALS PROCESS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82112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82112" y="1298448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4" name="Text 32"/>
          <p:cNvSpPr/>
          <p:nvPr/>
        </p:nvSpPr>
        <p:spPr>
          <a:xfrm>
            <a:off x="3182112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84448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Agent09_Withdrawals sheet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82112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82112" y="1792224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8" name="Text 36"/>
          <p:cNvSpPr/>
          <p:nvPr/>
        </p:nvSpPr>
        <p:spPr>
          <a:xfrm>
            <a:off x="3182112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584448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A (yellow)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82112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82112" y="2286000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42" name="Text 40"/>
          <p:cNvSpPr/>
          <p:nvPr/>
        </p:nvSpPr>
        <p:spPr>
          <a:xfrm>
            <a:off x="3182112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584448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Withdrawable Balance (Col C) — auto-shown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82112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82112" y="2779776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46" name="Text 44"/>
          <p:cNvSpPr/>
          <p:nvPr/>
        </p:nvSpPr>
        <p:spPr>
          <a:xfrm>
            <a:off x="3182112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584448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Withdrawal Amount in Col 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182112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82112" y="3273552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50" name="Text 48"/>
          <p:cNvSpPr/>
          <p:nvPr/>
        </p:nvSpPr>
        <p:spPr>
          <a:xfrm>
            <a:off x="3182112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584448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Authorized By in Col F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182112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82112" y="3767328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54" name="Text 52"/>
          <p:cNvSpPr/>
          <p:nvPr/>
        </p:nvSpPr>
        <p:spPr>
          <a:xfrm>
            <a:off x="3182112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3584448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code 1748 in Col I to authorize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181344" y="987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LOAN REQUEST PROCESS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181344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81344" y="1298448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59" name="Text 57"/>
          <p:cNvSpPr/>
          <p:nvPr/>
        </p:nvSpPr>
        <p:spPr>
          <a:xfrm>
            <a:off x="6181344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583680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Agent09_Loans sheet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181344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81344" y="1792224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63" name="Text 61"/>
          <p:cNvSpPr/>
          <p:nvPr/>
        </p:nvSpPr>
        <p:spPr>
          <a:xfrm>
            <a:off x="6181344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6583680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Loan Calculator (top of sheet) first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181344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81344" y="2286000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67" name="Text 65"/>
          <p:cNvSpPr/>
          <p:nvPr/>
        </p:nvSpPr>
        <p:spPr>
          <a:xfrm>
            <a:off x="6181344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583680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B (yellow)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181344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181344" y="2779776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1" name="Text 69"/>
          <p:cNvSpPr/>
          <p:nvPr/>
        </p:nvSpPr>
        <p:spPr>
          <a:xfrm>
            <a:off x="6181344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6583680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Loan Amount in Col 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181344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181344" y="3273552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5" name="Text 73"/>
          <p:cNvSpPr/>
          <p:nvPr/>
        </p:nvSpPr>
        <p:spPr>
          <a:xfrm>
            <a:off x="6181344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6583680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Purpose in Col F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181344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81344" y="3767328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9" name="Text 77"/>
          <p:cNvSpPr/>
          <p:nvPr/>
        </p:nvSpPr>
        <p:spPr>
          <a:xfrm>
            <a:off x="6181344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6583680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Months in Col G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181344" y="426110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181344" y="4261104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83" name="Text 81"/>
          <p:cNvSpPr/>
          <p:nvPr/>
        </p:nvSpPr>
        <p:spPr>
          <a:xfrm>
            <a:off x="6181344" y="426110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6583680" y="42611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code 1748 in Col M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82880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274320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use another agent's code. Only 1748 is valid here.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3182112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3273552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withdraw below GHS 10 reserve — system will block it.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181344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6272784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type in blue cells or DB sheets. Enter data in yellow cells ONLY.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D4C4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TRAINING — Agent 10  (Code: 9305)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area: Agent010_Zone  |  Sheets: Agent010_Savings | Agent010_Withdrawals | Agent010_Loans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8778240" cy="22860"/>
          </a:xfrm>
          <a:prstGeom prst="rect">
            <a:avLst/>
          </a:prstGeom>
          <a:solidFill>
            <a:srgbClr val="6D4C41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987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SAVINGS PROCESS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298448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Agent010_Savings sheet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1792224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A (yellow)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286000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5216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auto-fills Name &amp; Current Balance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779776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5216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Savings Amount in Col E (yellow)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2880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273552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5216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code 9305 in Col 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2880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3767328"/>
            <a:ext cx="347472" cy="42062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5216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auto-confirms ✅ Saved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182112" y="987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🏧 WITHDRAWALS PROCESS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82112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82112" y="1298448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4" name="Text 32"/>
          <p:cNvSpPr/>
          <p:nvPr/>
        </p:nvSpPr>
        <p:spPr>
          <a:xfrm>
            <a:off x="3182112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84448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Agent010_Withdrawals sheet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82112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82112" y="1792224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8" name="Text 36"/>
          <p:cNvSpPr/>
          <p:nvPr/>
        </p:nvSpPr>
        <p:spPr>
          <a:xfrm>
            <a:off x="3182112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584448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A (yellow)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82112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82112" y="2286000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42" name="Text 40"/>
          <p:cNvSpPr/>
          <p:nvPr/>
        </p:nvSpPr>
        <p:spPr>
          <a:xfrm>
            <a:off x="3182112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584448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Withdrawable Balance (Col C) — auto-shown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82112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82112" y="2779776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46" name="Text 44"/>
          <p:cNvSpPr/>
          <p:nvPr/>
        </p:nvSpPr>
        <p:spPr>
          <a:xfrm>
            <a:off x="3182112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584448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Withdrawal Amount in Col 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182112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82112" y="3273552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50" name="Text 48"/>
          <p:cNvSpPr/>
          <p:nvPr/>
        </p:nvSpPr>
        <p:spPr>
          <a:xfrm>
            <a:off x="3182112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584448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Authorized By in Col F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182112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82112" y="3767328"/>
            <a:ext cx="347472" cy="42062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54" name="Text 52"/>
          <p:cNvSpPr/>
          <p:nvPr/>
        </p:nvSpPr>
        <p:spPr>
          <a:xfrm>
            <a:off x="3182112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3584448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code 9305 in Col I to authorize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181344" y="987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LOAN REQUEST PROCESS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181344" y="129844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81344" y="1298448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59" name="Text 57"/>
          <p:cNvSpPr/>
          <p:nvPr/>
        </p:nvSpPr>
        <p:spPr>
          <a:xfrm>
            <a:off x="6181344" y="12984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583680" y="12984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Agent010_Loans sheet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181344" y="179222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81344" y="1792224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63" name="Text 61"/>
          <p:cNvSpPr/>
          <p:nvPr/>
        </p:nvSpPr>
        <p:spPr>
          <a:xfrm>
            <a:off x="6181344" y="179222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6583680" y="1792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Loan Calculator (top of sheet) first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181344" y="2286000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81344" y="2286000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67" name="Text 65"/>
          <p:cNvSpPr/>
          <p:nvPr/>
        </p:nvSpPr>
        <p:spPr>
          <a:xfrm>
            <a:off x="6181344" y="2286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583680" y="2286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# in Col B (yellow)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181344" y="2779776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181344" y="2779776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1" name="Text 69"/>
          <p:cNvSpPr/>
          <p:nvPr/>
        </p:nvSpPr>
        <p:spPr>
          <a:xfrm>
            <a:off x="6181344" y="27797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6583680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Loan Amount in Col 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181344" y="3273552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181344" y="3273552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5" name="Text 73"/>
          <p:cNvSpPr/>
          <p:nvPr/>
        </p:nvSpPr>
        <p:spPr>
          <a:xfrm>
            <a:off x="6181344" y="327355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6583680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Purpose in Col F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181344" y="3767328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81344" y="3767328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9" name="Text 77"/>
          <p:cNvSpPr/>
          <p:nvPr/>
        </p:nvSpPr>
        <p:spPr>
          <a:xfrm>
            <a:off x="6181344" y="376732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6583680" y="37673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Months in Col G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181344" y="4261104"/>
            <a:ext cx="2834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181344" y="4261104"/>
            <a:ext cx="347472" cy="420624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83" name="Text 81"/>
          <p:cNvSpPr/>
          <p:nvPr/>
        </p:nvSpPr>
        <p:spPr>
          <a:xfrm>
            <a:off x="6181344" y="426110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6583680" y="42611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code 9305 in Col M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82880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274320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use another agent's code. Only 9305 is valid here.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3182112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3273552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withdraw below GHS 10 reserve — system will block it.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181344" y="4645152"/>
            <a:ext cx="28346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6272784" y="4645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NEVER type in blue cells or DB sheets. Enter data in yellow cells ONLY.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— COMPREHENSIVE AUTO-REFRESH REPORTS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management reporting — no manual refresh needed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8778240" cy="228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005840"/>
            <a:ext cx="4206240" cy="4023360"/>
          </a:xfrm>
          <a:prstGeom prst="rect">
            <a:avLst/>
          </a:prstGeom>
          <a:solidFill>
            <a:srgbClr val="17223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05840"/>
            <a:ext cx="420624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106070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REPORT SECTIONS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389888"/>
            <a:ext cx="39867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CUSTOMER METRICS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Total Registered Customers (capacity: 2,000)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Active Customers (with transactions)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SAVINGS &amp; WITHDRAWALS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Total Savings Deposited (GHS) — all agents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Total Withdrawals (GHS) — all agents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Net Balance All Accounts (GHS)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LOAN PORTFOLIO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Total Loans (GHS) | Number of Loan Records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Total Top-Up Amounts | Total Loan Portfolio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AGENT SAVINGS SUMMARY (MTD)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Agent 01 through Agent 10 MTD Savings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🏧 AGENT WITHDRAWALS SUMMARY (MTD)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Agent 01 through Agent 10 MTD Withdrawals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ERROR CORRECTIONS AUDIT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Total Corrections | Verified | Pending | Invalid Code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Net Adjustments (GHS) | By Type (Savings/Withdrawal/Loan/Top-Up)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389120" cy="1828800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005840"/>
            <a:ext cx="43891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2" name="Text 10"/>
          <p:cNvSpPr/>
          <p:nvPr/>
        </p:nvSpPr>
        <p:spPr>
          <a:xfrm>
            <a:off x="4681728" y="1060704"/>
            <a:ext cx="4169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REPORTS WORK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81728" y="1389888"/>
            <a:ext cx="41696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update automatically as agents enter transactions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refresh button — Excel recalculates live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Date auto-updates to today's date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TOTAL BALANCE shown at the bottom of report — cross-checks entire system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should review REPORTS daily for anomalies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2990088"/>
            <a:ext cx="438912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29900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REPORTS sheet is 100% READ-ONLY. Never enter data here. It is a summary view only.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3657600"/>
            <a:ext cx="4389120" cy="1371600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3657600"/>
            <a:ext cx="4389120" cy="36576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18" name="Text 16"/>
          <p:cNvSpPr/>
          <p:nvPr/>
        </p:nvSpPr>
        <p:spPr>
          <a:xfrm>
            <a:off x="4681728" y="3712464"/>
            <a:ext cx="4169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MANAGER SHOULD CHECK DAILY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81728" y="4041648"/>
            <a:ext cx="41696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each agent's MTD savings vs GHS 5,000 target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Error Corrections: any Pending records need review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Invalid Code Attempts — may indicate unauthorized access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Net Balance with physical cash reconciliation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CORRECTIONS — AUDIT TRAIL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log and verify transaction corrections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8778240" cy="2286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005840"/>
            <a:ext cx="4206240" cy="1554480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05840"/>
            <a:ext cx="4206240" cy="36576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106070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389888"/>
            <a:ext cx="39867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TRANSACTIONS ARE IMMUTABLE — You can NEVER delete or edit an existing entry.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corrections go into the ERROR_CORRECTIONS sheet as a NEW record.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calculates a Net Adjustment and flags the original record.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Dashboard shows: Pending | Verified | Invalid Code | Net Adj (GHS)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3891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005840"/>
            <a:ext cx="347472" cy="42062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00584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74336" y="100584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ERROR_CORRECTIONS sheet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1499616"/>
            <a:ext cx="43891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499616"/>
            <a:ext cx="347472" cy="42062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49961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74336" y="149961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Transaction Type (Savings / Withdrawal / Loan / Top-Up)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1993392"/>
            <a:ext cx="43891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993392"/>
            <a:ext cx="347472" cy="42062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199339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74336" y="199339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Original Account No and Original Transaction ID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2487168"/>
            <a:ext cx="43891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2487168"/>
            <a:ext cx="347472" cy="42062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248716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74336" y="248716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Original Date and Original Amount (GHS)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2980944"/>
            <a:ext cx="43891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2980944"/>
            <a:ext cx="347472" cy="42062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298094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74336" y="298094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Corrected Amount (GHS)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3474720"/>
            <a:ext cx="43891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3474720"/>
            <a:ext cx="347472" cy="42062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0" y="347472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74336" y="347472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Reason for Correction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0" y="3968496"/>
            <a:ext cx="43891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3968496"/>
            <a:ext cx="347472" cy="42062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0" y="396849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974336" y="396849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Agent ID and 4-digit Agent Code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0" y="4462272"/>
            <a:ext cx="43891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4462272"/>
            <a:ext cx="347472" cy="42062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0" y="446227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974336" y="446227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Adjustment auto-calculates (Corrected − Original)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0" y="4956048"/>
            <a:ext cx="438912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0" y="4956048"/>
            <a:ext cx="347472" cy="42062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0" y="495604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974336" y="495604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reviews and updates Verification_Status to Verified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82880" y="2743200"/>
            <a:ext cx="4206240" cy="283464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6888" y="2743200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Correction_ID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920240" y="2743200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unique correction reference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82880" y="3072384"/>
            <a:ext cx="4206240" cy="283464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6888" y="3072384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Transaction_Type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920240" y="3072384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| Withdrawal | Loan | Top-Up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82880" y="3401568"/>
            <a:ext cx="4206240" cy="283464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46888" y="3401568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Original_Acct_No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920240" y="3401568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number of the original transaction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82880" y="3730752"/>
            <a:ext cx="4206240" cy="283464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6888" y="3730752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Original_Txn_ID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920240" y="3730752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ID from the original entry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82880" y="4059936"/>
            <a:ext cx="4206240" cy="283464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46888" y="4059936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Original_Date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920240" y="4059936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the original (wrong) transaction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82880" y="4389120"/>
            <a:ext cx="4206240" cy="283464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46888" y="4389120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Original_Amt_GHS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1920240" y="4389120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amount that was originally recorded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82880" y="4718304"/>
            <a:ext cx="4206240" cy="283464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46888" y="4718304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Corrected_Amt_GHS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920240" y="4718304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amount that SHOULD have been entered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572000" y="2743200"/>
            <a:ext cx="4206240" cy="283464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36008" y="2743200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309360" y="2743200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explanation of what went wrong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572000" y="3072384"/>
            <a:ext cx="4206240" cy="283464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36008" y="3072384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Agent_ID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6309360" y="3072384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making the correction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572000" y="3401568"/>
            <a:ext cx="4206240" cy="283464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36008" y="3401568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Agent_Code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6309360" y="3401568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4-digit security code for verification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572000" y="3730752"/>
            <a:ext cx="4206240" cy="283464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636008" y="3730752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Correction_Date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6309360" y="3730752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Auto-filled today's date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572000" y="4059936"/>
            <a:ext cx="4206240" cy="283464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636008" y="4059936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Net_Adjustment_GHS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6309360" y="4059936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Auto: Corrected − Original amount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4572000" y="4389120"/>
            <a:ext cx="4206240" cy="283464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36008" y="4389120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Verification_Status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6309360" y="4389120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Verified (manager updates)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572000" y="4718304"/>
            <a:ext cx="4206240" cy="283464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636008" y="4718304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309360" y="4718304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additional remarks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CONFIGURATION — System_Config Sheet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settings, security codes &amp; colour legend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8778240" cy="228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005840"/>
            <a:ext cx="4251960" cy="384048"/>
          </a:xfrm>
          <a:prstGeom prst="rect">
            <a:avLst/>
          </a:prstGeom>
          <a:solidFill>
            <a:srgbClr val="17223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37360" y="1005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SAMICIOUS MICROFINANCE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17720" y="1005840"/>
            <a:ext cx="4251960" cy="384048"/>
          </a:xfrm>
          <a:prstGeom prst="rect">
            <a:avLst/>
          </a:prstGeom>
          <a:solidFill>
            <a:srgbClr val="17223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72200" y="1005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(Ghana Cedis)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1444752"/>
            <a:ext cx="4251960" cy="384048"/>
          </a:xfrm>
          <a:prstGeom prst="rect">
            <a:avLst/>
          </a:prstGeom>
          <a:solidFill>
            <a:srgbClr val="17223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4447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37360" y="14447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 per month (flat rate)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1444752"/>
            <a:ext cx="4251960" cy="384048"/>
          </a:xfrm>
          <a:prstGeom prst="rect">
            <a:avLst/>
          </a:prstGeom>
          <a:solidFill>
            <a:srgbClr val="17223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4447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72200" y="14447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50,000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1883664"/>
            <a:ext cx="4251960" cy="384048"/>
          </a:xfrm>
          <a:prstGeom prst="rect">
            <a:avLst/>
          </a:prstGeom>
          <a:solidFill>
            <a:srgbClr val="17223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8836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Loan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37360" y="18836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100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1883664"/>
            <a:ext cx="4251960" cy="384048"/>
          </a:xfrm>
          <a:prstGeom prst="rect">
            <a:avLst/>
          </a:prstGeom>
          <a:solidFill>
            <a:srgbClr val="17223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8836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Agents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72200" y="18836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" y="2322576"/>
            <a:ext cx="4251960" cy="384048"/>
          </a:xfrm>
          <a:prstGeom prst="rect">
            <a:avLst/>
          </a:prstGeom>
          <a:solidFill>
            <a:srgbClr val="17223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3225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Balance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737360" y="23225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10 — non-withdrawable reserve on ALL accounts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17720" y="2322576"/>
            <a:ext cx="4251960" cy="384048"/>
          </a:xfrm>
          <a:prstGeom prst="rect">
            <a:avLst/>
          </a:prstGeom>
          <a:solidFill>
            <a:srgbClr val="17223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3225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72200" y="23225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v18.0 — Enterprise Formula-Only | 2,000+ Customers | Zero VBA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2880" y="2907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SECURITY CODES (from System_Config)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2880" y="3246120"/>
            <a:ext cx="1691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32735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01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56032" y="346557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4832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56032" y="346557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Agent01_Zone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965960" y="3246120"/>
            <a:ext cx="1691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39112" y="32735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02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039112" y="346557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9174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039112" y="346557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Agent02_Zone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749040" y="3246120"/>
            <a:ext cx="1691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22192" y="32735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03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822192" y="346557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2651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822192" y="346557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Agent03_Zone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532120" y="3246120"/>
            <a:ext cx="1691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05272" y="32735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04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605272" y="346557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7389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605272" y="346557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Agent04_Zone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315200" y="3246120"/>
            <a:ext cx="1691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88352" y="32735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05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388352" y="346557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5216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388352" y="346557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Agent05_Zone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82880" y="3721608"/>
            <a:ext cx="1691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6032" y="3749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06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56032" y="394106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8043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6032" y="394106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Agent06_Zone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965960" y="3721608"/>
            <a:ext cx="1691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39112" y="3749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07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039112" y="394106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3571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039112" y="394106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Agent07_Zone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749040" y="3721608"/>
            <a:ext cx="1691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22192" y="3749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08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822192" y="394106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6920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822192" y="394106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Agent08_Zone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532120" y="3721608"/>
            <a:ext cx="1691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05272" y="3749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09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605272" y="394106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1748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605272" y="394106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Agent09_Zone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7315200" y="3721608"/>
            <a:ext cx="1691640" cy="420624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88352" y="3749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10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7388352" y="394106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9305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388352" y="394106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Agent10_Zone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82880" y="4325112"/>
            <a:ext cx="87782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274320" y="432511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CODES ARE CONFIDENTIAL. Each agent must keep their 4-digit code private. Do NOT share codes between agents. Wrong code = 🔒 WRONG CODE status.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DB_AGENTS — AGENTS MASTER DATABASE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Pre-loaded agent registry — do not modify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8778240" cy="2286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005840"/>
            <a:ext cx="8778240" cy="914400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05840"/>
            <a:ext cx="8778240" cy="36576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1060704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CRITICAL — DO NOT MODIFY THIS SHEET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389888"/>
            <a:ext cx="8558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DB_Agents sheet contains the master record for all 10 agents. Agent code validation throughout the ENTIRE system depends on this sheet.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value here is changed incorrectly, code validation will fail across ALL agent sheets simultaneously, corrupting the security of the system.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2057400"/>
          <a:ext cx="87782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777240"/>
                <a:gridCol w="640080"/>
                <a:gridCol w="2103120"/>
                <a:gridCol w="1051560"/>
                <a:gridCol w="1051560"/>
                <a:gridCol w="960120"/>
                <a:gridCol w="1325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Agent_Code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Agent_Name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Agent_4Digit_Code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Working_Area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Min_Balance_GHS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agent01@samicious.com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4832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Agent01_Zone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code confidential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agent02@samicious.com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9174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Agent02_Zone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code confidential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03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agent03@samicious.com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2651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Agent03_Zone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code confidential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04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agent04@samicious.com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7389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Agent04_Zone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code confidential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05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agent05@samicious.com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Agent05_Zone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code confidential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06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agent06@samicious.com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8043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Agent06_Zone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code confidential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07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agent07@samicious.com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3571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Agent07_Zone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code confidential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08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agent08@samicious.com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Agent08_Zone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code confidential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09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agent09@samicious.com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Agent09_Zone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code confidential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agent10@samicious.com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9305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Agent10_Zone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code confidential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182880" y="4892040"/>
            <a:ext cx="8778240" cy="502920"/>
          </a:xfrm>
          <a:prstGeom prst="rect">
            <a:avLst/>
          </a:prstGeom>
          <a:solidFill>
            <a:srgbClr val="3B101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4320" y="4892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Only the system developer (Frank Abban) should ever modify DB_Agents. Unauthorized edits will break all agent authentication.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&amp; HOW TO AVOID THEM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prevention guide for all agents and administrators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8778240" cy="2286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005840"/>
            <a:ext cx="2834640" cy="1234440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05840"/>
            <a:ext cx="283464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069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IN BLUE CELLS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133502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Blue cells are auto-computed. Entering data there breaks formulas.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4320" y="177393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Only type in YELLOW cells. If a cell won't accept input, it's protected — do not force it.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182112" y="1005840"/>
            <a:ext cx="2834640" cy="1234440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1005840"/>
            <a:ext cx="2834640" cy="36576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13" name="Text 11"/>
          <p:cNvSpPr/>
          <p:nvPr/>
        </p:nvSpPr>
        <p:spPr>
          <a:xfrm>
            <a:off x="3273552" y="1069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AGENT CODE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73552" y="133502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Using another agent's 4-digit code produces 🔒 WRONG CODE. Transactions won't confirm.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73552" y="177393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Use only YOUR code. Agent 01 = 4832, Agent 02 = 9174, etc. Check System_Config if unsure.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181344" y="1005840"/>
            <a:ext cx="2834640" cy="1234440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81344" y="1005840"/>
            <a:ext cx="2834640" cy="36576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8" name="Text 16"/>
          <p:cNvSpPr/>
          <p:nvPr/>
        </p:nvSpPr>
        <p:spPr>
          <a:xfrm>
            <a:off x="6272784" y="1069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WITHDRAWING BELOW GHS 10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72784" y="133502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GHS 10 is a non-withdrawable reserve. Breach attempt shows 'Insufficient Balance'.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272784" y="177393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Always check the Withdrawable Balance column before entering the withdrawal amount.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82880" y="2331720"/>
            <a:ext cx="2834640" cy="1234440"/>
          </a:xfrm>
          <a:prstGeom prst="rect">
            <a:avLst/>
          </a:prstGeom>
          <a:solidFill>
            <a:srgbClr val="17223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331720"/>
            <a:ext cx="283464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3957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ENTERING DATA IN DB SHEETS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4320" y="266090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DB_Customers, DB_Savings, DB_Withdrawals, DB_Loans are ALL read-only databases.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4320" y="309981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Go to your agent's specific sheet (e.g. Agent01_Savings) — NEVER type in the DB sheets.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182112" y="2331720"/>
            <a:ext cx="2834640" cy="1234440"/>
          </a:xfrm>
          <a:prstGeom prst="rect">
            <a:avLst/>
          </a:prstGeom>
          <a:solidFill>
            <a:srgbClr val="172233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82112" y="2331720"/>
            <a:ext cx="2834640" cy="36576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8" name="Text 26"/>
          <p:cNvSpPr/>
          <p:nvPr/>
        </p:nvSpPr>
        <p:spPr>
          <a:xfrm>
            <a:off x="3273552" y="23957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ENTRIES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73552" y="266090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Entering the same transaction twice doubles the balance incorrectly.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273552" y="309981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Each row = one transaction. Verify the previous entry is in the correct row before adding a new one.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181344" y="2331720"/>
            <a:ext cx="2834640" cy="1234440"/>
          </a:xfrm>
          <a:prstGeom prst="rect">
            <a:avLst/>
          </a:prstGeom>
          <a:solidFill>
            <a:srgbClr val="172233"/>
          </a:solidFill>
          <a:ln w="12700">
            <a:solidFill>
              <a:srgbClr val="9C27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81344" y="2331720"/>
            <a:ext cx="2834640" cy="36576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33" name="Text 31"/>
          <p:cNvSpPr/>
          <p:nvPr/>
        </p:nvSpPr>
        <p:spPr>
          <a:xfrm>
            <a:off x="6272784" y="23957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NUMBER MISMATCH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72784" y="266090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Wrong account number pulls incorrect customer name and balance.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72784" y="309981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Verify the account number against the physical receipt or NEW ACCOUNT sheet before entering.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82880" y="3657600"/>
            <a:ext cx="2834640" cy="1234440"/>
          </a:xfrm>
          <a:prstGeom prst="rect">
            <a:avLst/>
          </a:prstGeom>
          <a:solidFill>
            <a:srgbClr val="172233"/>
          </a:solidFill>
          <a:ln w="12700">
            <a:solidFill>
              <a:srgbClr val="FB8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82880" y="3657600"/>
            <a:ext cx="2834640" cy="36576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37216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BALANCE BELOW GHS 10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74320" y="39867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Registering a customer with less than GHS 10 triggers ⚠️ Below Min Balance flag.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74320" y="442569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Collect at least GHS 10 before registering. Minimum is non-negotiable per system rules.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182112" y="3657600"/>
            <a:ext cx="2834640" cy="1234440"/>
          </a:xfrm>
          <a:prstGeom prst="rect">
            <a:avLst/>
          </a:prstGeom>
          <a:solidFill>
            <a:srgbClr val="172233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182112" y="3657600"/>
            <a:ext cx="283464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3" name="Text 41"/>
          <p:cNvSpPr/>
          <p:nvPr/>
        </p:nvSpPr>
        <p:spPr>
          <a:xfrm>
            <a:off x="3273552" y="37216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AGENT CODE ENTRY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273552" y="39867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Without the agent code in the Code column, Status stays blank or shows error.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273552" y="442569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Always enter your code LAST after all other fields are filled — it triggers status confirmation.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181344" y="3657600"/>
            <a:ext cx="2834640" cy="1234440"/>
          </a:xfrm>
          <a:prstGeom prst="rect">
            <a:avLst/>
          </a:prstGeom>
          <a:solidFill>
            <a:srgbClr val="172233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81344" y="3657600"/>
            <a:ext cx="2834640" cy="36576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48" name="Text 46"/>
          <p:cNvSpPr/>
          <p:nvPr/>
        </p:nvSpPr>
        <p:spPr>
          <a:xfrm>
            <a:off x="6272784" y="37216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EXISTING ENTRIES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272784" y="39867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The system uses fixed row ranges for DB aggregation. Deleting rows misaligns the sync.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272784" y="442569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NEVER delete rows. If a mistake is made, log a correction in ERROR_CORRECTIONS sheet.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0"/>
            <a:ext cx="91440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493008"/>
            <a:ext cx="91440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now ready to operate the SAMICIOUS Microfinance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Yellow = YOU enter data  •  🔵 Blue = System handles it  •  🔒 Wrong Code = Check your code  •  ⛔ Blue cells = Never touch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Original transactions are IMMUTABLE. Errors go to ERROR_CORRECTIONS sheet.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10 minimum balance is ALWAYS enforced on every account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&amp; SUPPORT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005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Abban — IT Consultant  |  📞 0241911273  |  📞 0207530771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SAMICIOUS MICROFINANCE ENTERPRISE  v18.0  —  Confidential Staff Training Document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SAMICIOUS Microfinance — Staff Training Guide v18.0</dc:title>
  <dc:subject>System Training</dc:subject>
  <dc:creator>Frank Abban — IT Consultant</dc:creator>
  <cp:lastModifiedBy>Frank Abban — IT Consultant</cp:lastModifiedBy>
  <cp:revision>1</cp:revision>
  <dcterms:created xsi:type="dcterms:W3CDTF">2026-04-26T12:08:46Z</dcterms:created>
  <dcterms:modified xsi:type="dcterms:W3CDTF">2026-04-26T12:08:46Z</dcterms:modified>
</cp:coreProperties>
</file>